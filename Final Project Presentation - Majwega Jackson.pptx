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0606" y="339770"/>
            <a:ext cx="11474245" cy="1415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GB" sz="4000" b="1" dirty="0">
                <a:solidFill>
                  <a:srgbClr val="FFFFFF"/>
                </a:solidFill>
                <a:latin typeface="Georgia"/>
              </a:rPr>
              <a:t>A robust </a:t>
            </a:r>
            <a:r>
              <a:rPr lang="en-GB" sz="4000" b="1" dirty="0">
                <a:solidFill>
                  <a:srgbClr val="FFFFFF"/>
                </a:solidFill>
                <a:latin typeface="ZapfHumnst BT" panose="020B0502050508020304" pitchFamily="34" charset="0"/>
              </a:rPr>
              <a:t>Ensemble</a:t>
            </a:r>
            <a:r>
              <a:rPr lang="en-GB" sz="4000" b="1" dirty="0">
                <a:solidFill>
                  <a:srgbClr val="FFFFFF"/>
                </a:solidFill>
                <a:latin typeface="Georgia"/>
              </a:rPr>
              <a:t> Learning Approach for Early Paddy Rice Prediction</a:t>
            </a:r>
            <a:endParaRPr sz="40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9928" y="2569411"/>
            <a:ext cx="1051560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GB" sz="3000" b="0" i="1" dirty="0" smtClean="0">
                <a:solidFill>
                  <a:srgbClr val="ECD89C"/>
                </a:solidFill>
                <a:latin typeface="Calibri"/>
              </a:rPr>
              <a:t>Data Engineering and Analytics – </a:t>
            </a:r>
            <a:r>
              <a:rPr lang="en-GB" sz="3000" b="0" i="1" dirty="0" err="1" smtClean="0">
                <a:solidFill>
                  <a:srgbClr val="ECD89C"/>
                </a:solidFill>
                <a:latin typeface="Calibri"/>
              </a:rPr>
              <a:t>Majwega</a:t>
            </a:r>
            <a:r>
              <a:rPr lang="en-GB" sz="3000" b="0" i="1" dirty="0" smtClean="0">
                <a:solidFill>
                  <a:srgbClr val="ECD89C"/>
                </a:solidFill>
                <a:latin typeface="Calibri"/>
              </a:rPr>
              <a:t> Jackson</a:t>
            </a:r>
            <a:endParaRPr sz="3000" b="0" i="1" dirty="0">
              <a:solidFill>
                <a:srgbClr val="ECD89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4A437"/>
                </a:solidFill>
                <a:latin typeface="Georgia"/>
              </a:rPr>
              <a:t>2,789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D89C"/>
                </a:solidFill>
                <a:latin typeface="Calibri"/>
              </a:rPr>
              <a:t>farms analysed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463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4A437"/>
                </a:solidFill>
                <a:latin typeface="Georgia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4864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D89C"/>
                </a:solidFill>
                <a:latin typeface="Calibri"/>
              </a:rPr>
              <a:t>models compared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48463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4A437"/>
                </a:solidFill>
                <a:latin typeface="Georgia"/>
              </a:rPr>
              <a:t>99.2%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54864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D89C"/>
                </a:solidFill>
                <a:latin typeface="Calibri"/>
              </a:rPr>
              <a:t>best R²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84632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4A437"/>
                </a:solidFill>
                <a:latin typeface="Georgia"/>
              </a:rPr>
              <a:t>826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4864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D89C"/>
                </a:solidFill>
                <a:latin typeface="Calibri"/>
              </a:rPr>
              <a:t>best RMSE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263640"/>
            <a:ext cx="10515600" cy="18288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CD89C"/>
                </a:solidFill>
                <a:latin typeface="Calibri"/>
              </a:rPr>
              <a:t>Final Project — Majwega Jackson · April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355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ECD89C"/>
                </a:solidFill>
                <a:latin typeface="Calibri"/>
              </a:rPr>
              <a:t>1 /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9928" y="3745569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 dirty="0">
                <a:solidFill>
                  <a:srgbClr val="ECD89C"/>
                </a:solidFill>
                <a:latin typeface="Calibri"/>
              </a:rPr>
              <a:t>From farm inputs and climate to a working prediction tool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01  ·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Why predict paddy yield?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657600" cy="420624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" cy="420624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5F2D"/>
                </a:solidFill>
                <a:latin typeface="Calibri"/>
              </a:rPr>
              <a:t>THE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1C"/>
                </a:solidFill>
                <a:latin typeface="Georgia"/>
              </a:rPr>
              <a:t>Forecast harvest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3108960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3235"/>
                </a:solidFill>
                <a:latin typeface="Calibri"/>
              </a:rPr>
              <a:t>Predict total paddy yield (in kg) for a farm before harvest, using only inputs and climate data already collected during the season.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657600" cy="420624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73152" cy="420624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231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1C"/>
                </a:solidFill>
                <a:latin typeface="Georgia"/>
              </a:rPr>
              <a:t>Better farming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63240"/>
            <a:ext cx="3108960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3235"/>
                </a:solidFill>
                <a:latin typeface="Calibri"/>
              </a:rPr>
              <a:t>Farmers, co-ops and extension officers can plan storage, pricing and input top-ups earlier — and spot under-performing plots before harvest.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657600" cy="420624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73152" cy="4206240"/>
          </a:xfrm>
          <a:prstGeom prst="rect">
            <a:avLst/>
          </a:prstGeom>
          <a:solidFill>
            <a:srgbClr val="6B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9E4D"/>
                </a:solidFill>
                <a:latin typeface="Calibri"/>
              </a:rPr>
              <a:t>OUR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231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3A1C"/>
                </a:solidFill>
                <a:latin typeface="Georgia"/>
              </a:rPr>
              <a:t>Classical ML + Neural 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063240"/>
            <a:ext cx="3108960" cy="283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3235"/>
                </a:solidFill>
                <a:latin typeface="Calibri"/>
              </a:rPr>
              <a:t>We compare 5 classical models, 2 ensembles, and a neural network on the same test data, then recommend the model with the best accuracy and stability.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02  · 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What we worked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2C5F2D"/>
                </a:solidFill>
                <a:latin typeface="Georgia"/>
              </a:rPr>
              <a:t>2,789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3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66B"/>
                </a:solidFill>
                <a:latin typeface="Calibri"/>
              </a:rPr>
              <a:t>FARM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2C5F2D"/>
                </a:solidFill>
                <a:latin typeface="Georgia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66B"/>
                </a:solidFill>
                <a:latin typeface="Calibri"/>
              </a:rPr>
              <a:t>RAW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2C5F2D"/>
                </a:solidFill>
                <a:latin typeface="Georgia"/>
              </a:rPr>
              <a:t>4 × 30d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32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666B"/>
                </a:solidFill>
                <a:latin typeface="Calibri"/>
              </a:rPr>
              <a:t>CLIMATE WINDOWS PER FARM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1C"/>
                </a:solidFill>
                <a:latin typeface="Georgia"/>
              </a:rPr>
              <a:t>Each row = one farm-season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313432"/>
            <a:ext cx="228600" cy="2286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240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1C"/>
                </a:solidFill>
                <a:latin typeface="Calibri"/>
              </a:rPr>
              <a:t>Farm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0604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Hectares, Variety, Soil type, Nursery type, Agriblock (location)</a:t>
            </a:r>
          </a:p>
        </p:txBody>
      </p:sp>
      <p:sp>
        <p:nvSpPr>
          <p:cNvPr id="15" name="Oval 14"/>
          <p:cNvSpPr/>
          <p:nvPr/>
        </p:nvSpPr>
        <p:spPr>
          <a:xfrm>
            <a:off x="4389120" y="3273552"/>
            <a:ext cx="228600" cy="228600"/>
          </a:xfrm>
          <a:prstGeom prst="ellipse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3200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1C"/>
                </a:solidFill>
                <a:latin typeface="Calibri"/>
              </a:rPr>
              <a:t>Inputs applied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56616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Seed rate, DAP, Urea, Potash, Micronutrients, Pesticide, Land prep, Weed control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0" y="4233672"/>
            <a:ext cx="228600" cy="228600"/>
          </a:xfrm>
          <a:prstGeom prst="ellipse">
            <a:avLst/>
          </a:prstGeom>
          <a:solidFill>
            <a:srgbClr val="6B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160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1C"/>
                </a:solidFill>
                <a:latin typeface="Calibri"/>
              </a:rPr>
              <a:t>Climate (4 growth windows)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52628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Rainfall · Min/Max temperature · Relative humidity — measured at D1–30, D31–60, D61–90, D91–120</a:t>
            </a:r>
          </a:p>
        </p:txBody>
      </p:sp>
      <p:sp>
        <p:nvSpPr>
          <p:cNvPr id="21" name="Oval 20"/>
          <p:cNvSpPr/>
          <p:nvPr/>
        </p:nvSpPr>
        <p:spPr>
          <a:xfrm>
            <a:off x="4389120" y="5193792"/>
            <a:ext cx="228600" cy="228600"/>
          </a:xfrm>
          <a:prstGeom prst="ellipse">
            <a:avLst/>
          </a:prstGeom>
          <a:solidFill>
            <a:srgbClr val="C4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5120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1C"/>
                </a:solidFill>
                <a:latin typeface="Calibri"/>
              </a:rPr>
              <a:t>Target variable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486400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Paddy yield in kilograms — mean 22,518 kg, range 5,410 – 38,814 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03  · 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Turning raw numbers into useful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2B3235"/>
                </a:solidFill>
                <a:latin typeface="Calibri"/>
              </a:rPr>
              <a:t>Raw totals (e.g. total kg of urea) just track farm size. We re-expressed every input as a per-hectare rate so the model could learn the difference between under-, optimal, and over-application.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3657600" cy="320040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3154679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317296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246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1C"/>
                </a:solidFill>
                <a:latin typeface="Georgia"/>
              </a:rPr>
              <a:t>Per-hectare ratios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3749039"/>
            <a:ext cx="23774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Nine input ratios — seed rate/ha, urea/ha, DAP/ha, potash/ha, micro/ha, pesticide/ha, land-prep/ha, nursery-prep/ha, weed-control/ha. Captures how intensely each plot is managed.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880360"/>
            <a:ext cx="3657600" cy="320040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72000" y="3154679"/>
            <a:ext cx="640080" cy="640080"/>
          </a:xfrm>
          <a:prstGeom prst="ellipse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317296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246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1C"/>
                </a:solidFill>
                <a:latin typeface="Georgia"/>
              </a:rPr>
              <a:t>Composite intensity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749039"/>
            <a:ext cx="23774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A single z-score that summarises overall input intensity across all 9 ratios. Lets the model spot ‘over-applied’ vs ‘under-applied’ farms instantly.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880360"/>
            <a:ext cx="3657600" cy="320040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0" y="3154679"/>
            <a:ext cx="640080" cy="640080"/>
          </a:xfrm>
          <a:prstGeom prst="ellipse">
            <a:avLst/>
          </a:prstGeom>
          <a:solidFill>
            <a:srgbClr val="6B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317296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46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1C"/>
                </a:solidFill>
                <a:latin typeface="Georgia"/>
              </a:rPr>
              <a:t>Climate aggregates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749039"/>
            <a:ext cx="23774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Across the 4 growth windows: mean rain, total rain, rain variability, mean min/max temperature, temperature range, mean and range of humidity.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04  ·  EDA — UNIVARIATE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How much yield, and how does it spread?</a:t>
            </a:r>
          </a:p>
        </p:txBody>
      </p:sp>
      <p:pic>
        <p:nvPicPr>
          <p:cNvPr id="5" name="Picture 4" descr="cell09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96765"/>
            <a:ext cx="7315200" cy="28874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691640"/>
            <a:ext cx="3474720" cy="429768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58200" y="17830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4A437"/>
                </a:solidFill>
                <a:latin typeface="Calibri"/>
              </a:rPr>
              <a:t>WHAT THE PLOT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1C"/>
                </a:solidFill>
                <a:latin typeface="Georgia"/>
              </a:rPr>
              <a:t>Two shapes, one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788920"/>
            <a:ext cx="3108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2C5F2D"/>
                </a:solidFill>
                <a:latin typeface="Calibri"/>
              </a:rPr>
              <a:t>Total yield (left) </a:t>
            </a:r>
            <a:r>
              <a:rPr sz="1200" b="0">
                <a:solidFill>
                  <a:srgbClr val="2B3235"/>
                </a:solidFill>
                <a:latin typeface="Calibri"/>
              </a:rPr>
              <a:t>ranges from 5.4 t to 38.8 t — wide, because farms are different sizes.
</a:t>
            </a:r>
            <a:r>
              <a:rPr sz="600" b="0">
                <a:solidFill>
                  <a:srgbClr val="2B3235"/>
                </a:solidFill>
                <a:latin typeface="Calibri"/>
              </a:rPr>
              <a:t> 
</a:t>
            </a:r>
            <a:r>
              <a:rPr sz="1200" b="1">
                <a:solidFill>
                  <a:srgbClr val="2C5F2D"/>
                </a:solidFill>
                <a:latin typeface="Calibri"/>
              </a:rPr>
              <a:t>Yield per hectare (right) </a:t>
            </a:r>
            <a:r>
              <a:rPr sz="1200" b="0">
                <a:solidFill>
                  <a:srgbClr val="2B3235"/>
                </a:solidFill>
                <a:latin typeface="Calibri"/>
              </a:rPr>
              <a:t>is much tighter and bell-shaped, meaning per-acre productivity is fairly consistent.
</a:t>
            </a:r>
            <a:r>
              <a:rPr sz="600" b="0">
                <a:solidFill>
                  <a:srgbClr val="2B3235"/>
                </a:solidFill>
                <a:latin typeface="Calibri"/>
              </a:rPr>
              <a:t> 
</a:t>
            </a:r>
            <a:r>
              <a:rPr sz="1200" b="1">
                <a:solidFill>
                  <a:srgbClr val="D4A437"/>
                </a:solidFill>
                <a:latin typeface="Calibri"/>
              </a:rPr>
              <a:t>Implication: </a:t>
            </a:r>
            <a:r>
              <a:rPr sz="1200" b="0">
                <a:solidFill>
                  <a:srgbClr val="2B3235"/>
                </a:solidFill>
                <a:latin typeface="Calibri"/>
              </a:rPr>
              <a:t>farm size drives most of the raw spread, so we model yield while controlling for hectares.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05  ·  EDA — MULTIVARIATE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Where do the yield differences come from?</a:t>
            </a:r>
          </a:p>
        </p:txBody>
      </p:sp>
      <p:pic>
        <p:nvPicPr>
          <p:cNvPr id="5" name="Picture 4" descr="cell10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65" y="1691640"/>
            <a:ext cx="5934949" cy="4206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691640"/>
            <a:ext cx="3474720" cy="420624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58200" y="17830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4A437"/>
                </a:solidFill>
                <a:latin typeface="Calibri"/>
              </a:rPr>
              <a:t>READING THE BOXPLOTS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3108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B3A1C"/>
                </a:solidFill>
                <a:latin typeface="Georgia"/>
              </a:rPr>
              <a:t>Place, variety &amp; soil all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108960"/>
            <a:ext cx="31089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D4A437"/>
                </a:solidFill>
                <a:latin typeface="Calibri"/>
              </a:rPr>
              <a:t>Agriblock (location): </a:t>
            </a:r>
            <a:r>
              <a:rPr sz="1200" b="0">
                <a:solidFill>
                  <a:srgbClr val="2B3235"/>
                </a:solidFill>
                <a:latin typeface="Calibri"/>
              </a:rPr>
              <a:t>yield/ha clearly differs between blocks — geography sets a baseline.
</a:t>
            </a:r>
            <a:r>
              <a:rPr sz="1200" b="1">
                <a:solidFill>
                  <a:srgbClr val="D4A437"/>
                </a:solidFill>
                <a:latin typeface="Calibri"/>
              </a:rPr>
              <a:t>Variety: </a:t>
            </a:r>
            <a:r>
              <a:rPr sz="1200" b="0">
                <a:solidFill>
                  <a:srgbClr val="2B3235"/>
                </a:solidFill>
                <a:latin typeface="Calibri"/>
              </a:rPr>
              <a:t>some seed varieties consistently out-yield others on the same land.
</a:t>
            </a:r>
            <a:r>
              <a:rPr sz="1200" b="1">
                <a:solidFill>
                  <a:srgbClr val="D4A437"/>
                </a:solidFill>
                <a:latin typeface="Calibri"/>
              </a:rPr>
              <a:t>Soil type: </a:t>
            </a:r>
            <a:r>
              <a:rPr sz="1200" b="0">
                <a:solidFill>
                  <a:srgbClr val="2B3235"/>
                </a:solidFill>
                <a:latin typeface="Calibri"/>
              </a:rPr>
              <a:t>alluvial vs clay shifts the median noticeably.
</a:t>
            </a:r>
            <a:r>
              <a:rPr sz="1200" b="1">
                <a:solidFill>
                  <a:srgbClr val="D4A437"/>
                </a:solidFill>
                <a:latin typeface="Calibri"/>
              </a:rPr>
              <a:t>Nursery (wet vs dry): </a:t>
            </a:r>
            <a:r>
              <a:rPr sz="1200" b="0">
                <a:solidFill>
                  <a:srgbClr val="2B3235"/>
                </a:solidFill>
                <a:latin typeface="Calibri"/>
              </a:rPr>
              <a:t>smaller effect, but still visible in the medians.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035040"/>
            <a:ext cx="11155680" cy="4114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FFFFFF"/>
                </a:solidFill>
                <a:latin typeface="Calibri"/>
              </a:rPr>
              <a:t>Takeaway: variety + location + soil collectively explain a big share of yield — strong features for the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06  ·  EDA — INPUT INTENSITY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Is more input always better?</a:t>
            </a:r>
          </a:p>
        </p:txBody>
      </p:sp>
      <p:pic>
        <p:nvPicPr>
          <p:cNvPr id="5" name="Picture 4" descr="cell12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02234"/>
            <a:ext cx="7315200" cy="28021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691640"/>
            <a:ext cx="3474720" cy="402336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58200" y="17830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4A437"/>
                </a:solidFill>
                <a:latin typeface="Calibri"/>
              </a:rPr>
              <a:t>THE CONSOLIDATION PAYOFF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1C"/>
                </a:solidFill>
                <a:latin typeface="Georgia"/>
              </a:rPr>
              <a:t>There's a sweet 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788920"/>
            <a:ext cx="31089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The curve is shaped like an upside-down U. Yield rises with input intensity up to a peak, then drops.</a:t>
            </a:r>
          </a:p>
          <a:p>
            <a:pPr algn="l">
              <a:lnSpc>
                <a:spcPct val="135000"/>
              </a:lnSpc>
            </a:pPr>
            <a:endParaRPr sz="1200" b="0" i="0">
              <a:solidFill>
                <a:srgbClr val="2B3235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Both under-applying and over-applying hurt yield. The model can therefore reward staying inside the optimal band.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97880"/>
            <a:ext cx="3657600" cy="457200"/>
          </a:xfrm>
          <a:prstGeom prst="rect">
            <a:avLst/>
          </a:prstGeom>
          <a:solidFill>
            <a:srgbClr val="C4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VERY LOW / HIGH  →  yield drops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5897880"/>
            <a:ext cx="3657600" cy="4572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5897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OPTIMAL BAND  →  peak yield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5897880"/>
            <a:ext cx="3657600" cy="45720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5897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1C"/>
                </a:solidFill>
                <a:latin typeface="Calibri"/>
              </a:rPr>
              <a:t>AT-RISK ZONES  →  actionable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07  ·  EDA — FEATURE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How features connect to yield</a:t>
            </a:r>
          </a:p>
        </p:txBody>
      </p:sp>
      <p:pic>
        <p:nvPicPr>
          <p:cNvPr id="5" name="Picture 4" descr="cell18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04" y="1463040"/>
            <a:ext cx="5619750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691640"/>
            <a:ext cx="4114800" cy="457200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09560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4A437"/>
                </a:solidFill>
                <a:latin typeface="Calibri"/>
              </a:rPr>
              <a:t>READING THE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1488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1C"/>
                </a:solidFill>
                <a:latin typeface="Georgia"/>
              </a:rPr>
              <a:t>Hectares is the dominant driver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788920"/>
            <a:ext cx="36576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Blue cells = positive link. Red cells = negative link. Bigger numbers = stronger links.
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B3235"/>
                </a:solidFill>
                <a:latin typeface="Calibri"/>
              </a:rPr>
              <a:t> 
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C5F2D"/>
                </a:solidFill>
                <a:latin typeface="Calibri"/>
              </a:rPr>
              <a:t>Hectares 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strongly predicts total yield — bigger farm, more rice.
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B3235"/>
                </a:solidFill>
                <a:latin typeface="Calibri"/>
              </a:rPr>
              <a:t> 
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C5F2D"/>
                </a:solidFill>
                <a:latin typeface="Calibri"/>
              </a:rPr>
              <a:t>Per-hectare ratios 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cluster together — they share the consolidation signal.
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B3235"/>
                </a:solidFill>
                <a:latin typeface="Calibri"/>
              </a:rPr>
              <a:t> 
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C5F2D"/>
                </a:solidFill>
                <a:latin typeface="Calibri"/>
              </a:rPr>
              <a:t>Climate features 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show weaker direct links — climate matters in combination with management, which non-linear models can capture.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08  · 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Seven candidates, one fair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C666B"/>
                </a:solidFill>
                <a:latin typeface="Calibri"/>
              </a:rPr>
              <a:t>Same 80/20 train/test split · same features · same seed (42) · 5-fold cross-validation on training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657600" cy="393192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657600" cy="5029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CLASSICAL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2608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1C"/>
                </a:solidFill>
                <a:latin typeface="Georgia"/>
              </a:rPr>
              <a:t>Tree models &amp; a baseline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3639312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Random Forest</a:t>
            </a:r>
          </a:p>
        </p:txBody>
      </p:sp>
      <p:sp>
        <p:nvSpPr>
          <p:cNvPr id="12" name="Oval 11"/>
          <p:cNvSpPr/>
          <p:nvPr/>
        </p:nvSpPr>
        <p:spPr>
          <a:xfrm>
            <a:off x="822959" y="4142232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Gradient Boosting</a:t>
            </a:r>
          </a:p>
        </p:txBody>
      </p:sp>
      <p:sp>
        <p:nvSpPr>
          <p:cNvPr id="14" name="Oval 13"/>
          <p:cNvSpPr/>
          <p:nvPr/>
        </p:nvSpPr>
        <p:spPr>
          <a:xfrm>
            <a:off x="822959" y="4645152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Extra Trees</a:t>
            </a:r>
          </a:p>
        </p:txBody>
      </p:sp>
      <p:sp>
        <p:nvSpPr>
          <p:cNvPr id="16" name="Oval 15"/>
          <p:cNvSpPr/>
          <p:nvPr/>
        </p:nvSpPr>
        <p:spPr>
          <a:xfrm>
            <a:off x="822959" y="5148072"/>
            <a:ext cx="164592" cy="16459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Ridge regression (baseline)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286000"/>
            <a:ext cx="3657600" cy="393192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2286000"/>
            <a:ext cx="3657600" cy="50292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23317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ENSEMBLES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92608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1C"/>
                </a:solidFill>
                <a:latin typeface="Georgia"/>
              </a:rPr>
              <a:t>Combine the best models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0" y="3639312"/>
            <a:ext cx="164592" cy="164592"/>
          </a:xfrm>
          <a:prstGeom prst="ellipse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35204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Voting (RF + GB + ET)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0" y="4142232"/>
            <a:ext cx="164592" cy="164592"/>
          </a:xfrm>
          <a:prstGeom prst="ellipse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40233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Stacking (RF + GB + ET → Ridge)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0" y="4645152"/>
            <a:ext cx="164592" cy="164592"/>
          </a:xfrm>
          <a:prstGeom prst="ellipse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45262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Average vs learned blending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0" y="5148072"/>
            <a:ext cx="164592" cy="164592"/>
          </a:xfrm>
          <a:prstGeom prst="ellipse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50292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5-fold cross-validation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286000"/>
            <a:ext cx="3657600" cy="393192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2286000"/>
            <a:ext cx="3657600" cy="502920"/>
          </a:xfrm>
          <a:prstGeom prst="rect">
            <a:avLst/>
          </a:prstGeom>
          <a:solidFill>
            <a:srgbClr val="6B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23317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NEURAL 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92608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1C"/>
                </a:solidFill>
                <a:latin typeface="Georgia"/>
              </a:rPr>
              <a:t>Multi-layer perceptron</a:t>
            </a:r>
          </a:p>
        </p:txBody>
      </p:sp>
      <p:sp>
        <p:nvSpPr>
          <p:cNvPr id="34" name="Oval 33"/>
          <p:cNvSpPr/>
          <p:nvPr/>
        </p:nvSpPr>
        <p:spPr>
          <a:xfrm>
            <a:off x="8321040" y="3639312"/>
            <a:ext cx="164592" cy="164592"/>
          </a:xfrm>
          <a:prstGeom prst="ellipse">
            <a:avLst/>
          </a:prstGeom>
          <a:solidFill>
            <a:srgbClr val="6B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5360" y="352044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3 hidden layers: 256 → 128 → 64</a:t>
            </a:r>
          </a:p>
        </p:txBody>
      </p:sp>
      <p:sp>
        <p:nvSpPr>
          <p:cNvPr id="36" name="Oval 35"/>
          <p:cNvSpPr/>
          <p:nvPr/>
        </p:nvSpPr>
        <p:spPr>
          <a:xfrm>
            <a:off x="8321040" y="4142232"/>
            <a:ext cx="164592" cy="164592"/>
          </a:xfrm>
          <a:prstGeom prst="ellipse">
            <a:avLst/>
          </a:prstGeom>
          <a:solidFill>
            <a:srgbClr val="6B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95360" y="40233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ReLU activation, Adam optimiser</a:t>
            </a:r>
          </a:p>
        </p:txBody>
      </p:sp>
      <p:sp>
        <p:nvSpPr>
          <p:cNvPr id="38" name="Oval 37"/>
          <p:cNvSpPr/>
          <p:nvPr/>
        </p:nvSpPr>
        <p:spPr>
          <a:xfrm>
            <a:off x="8321040" y="4645152"/>
            <a:ext cx="164592" cy="164592"/>
          </a:xfrm>
          <a:prstGeom prst="ellipse">
            <a:avLst/>
          </a:prstGeom>
          <a:solidFill>
            <a:srgbClr val="6B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95360" y="45262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L2 regularisation + early stopping</a:t>
            </a:r>
          </a:p>
        </p:txBody>
      </p:sp>
      <p:sp>
        <p:nvSpPr>
          <p:cNvPr id="40" name="Oval 39"/>
          <p:cNvSpPr/>
          <p:nvPr/>
        </p:nvSpPr>
        <p:spPr>
          <a:xfrm>
            <a:off x="8321040" y="5148072"/>
            <a:ext cx="164592" cy="164592"/>
          </a:xfrm>
          <a:prstGeom prst="ellipse">
            <a:avLst/>
          </a:prstGeom>
          <a:solidFill>
            <a:srgbClr val="6B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95360" y="502920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Standard-scaled inputs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09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How the seven models compare</a:t>
            </a:r>
          </a:p>
        </p:txBody>
      </p:sp>
      <p:pic>
        <p:nvPicPr>
          <p:cNvPr id="5" name="Picture 4" descr="cell33_ou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85351"/>
            <a:ext cx="7040880" cy="25958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5544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RANKED BY R²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965960"/>
            <a:ext cx="4297680" cy="365760"/>
          </a:xfrm>
          <a:prstGeom prst="rect">
            <a:avLst/>
          </a:prstGeom>
          <a:solidFill>
            <a:srgbClr val="1B3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9933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9339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99339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199339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RMSE (kg)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331720"/>
            <a:ext cx="4297680" cy="36576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23317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5F2D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3317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3235"/>
                </a:solidFill>
                <a:latin typeface="Calibri"/>
              </a:rPr>
              <a:t>Stacking (RF+GB+ET)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3317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3235"/>
                </a:solidFill>
                <a:latin typeface="Calibri"/>
              </a:rPr>
              <a:t>0.9916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23317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3235"/>
                </a:solidFill>
                <a:latin typeface="Calibri"/>
              </a:rPr>
              <a:t>826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697479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269747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B9E4D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69747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Voting (RF+GB+ET)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697479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0.9910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2697479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855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063239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35240" y="306323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B3235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06323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Gradient Boosting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063239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0.9907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3063239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868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428999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342899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B3235"/>
                </a:solidFill>
                <a:latin typeface="Georg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42899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Random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3428999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0.9906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3428999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871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3794759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35240" y="3794759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B3235"/>
                </a:solidFill>
                <a:latin typeface="Georg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79475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Extra Trees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794759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0.9902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3794759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891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4160520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35240" y="41605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5C666B"/>
                </a:solidFill>
                <a:latin typeface="Georg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1605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Ridge (baseline)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1605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0.9898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41605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909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4526280"/>
            <a:ext cx="4297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452628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5C666B"/>
                </a:solidFill>
                <a:latin typeface="Georgia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45262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Neural Network MLP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45262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0.9896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35640" y="45262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919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7240" y="58064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Stacking wins on every metric (R², RMSE, MAE, CV-R²). All tree-based models cluster tightly above 99% R² — the neural network is competitive but slightly behind, and the Ridge baseline shows the data is mostly linear.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10  · 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Does the winner agree with reality?</a:t>
            </a:r>
          </a:p>
        </p:txBody>
      </p:sp>
      <p:pic>
        <p:nvPicPr>
          <p:cNvPr id="5" name="Picture 4" descr="cell35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03862"/>
            <a:ext cx="7863840" cy="2444434"/>
          </a:xfrm>
          <a:prstGeom prst="rect">
            <a:avLst/>
          </a:prstGeom>
        </p:spPr>
      </p:pic>
      <p:pic>
        <p:nvPicPr>
          <p:cNvPr id="6" name="Picture 5" descr="cell36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178" y="4297680"/>
            <a:ext cx="5729003" cy="2194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554480"/>
            <a:ext cx="3291840" cy="493776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4A437"/>
                </a:solidFill>
                <a:latin typeface="Calibri"/>
              </a:rPr>
              <a:t>WHAT TO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116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1C"/>
                </a:solidFill>
                <a:latin typeface="Georgia"/>
              </a:rPr>
              <a:t>Tight, balanced, no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C5F2D"/>
                </a:solidFill>
                <a:latin typeface="Calibri"/>
              </a:rPr>
              <a:t>Top: actual vs predicted
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Points hug the dashed line — predictions match reality across the full yield range.
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B3235"/>
                </a:solidFill>
                <a:latin typeface="Calibri"/>
              </a:rPr>
              <a:t> 
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C5F2D"/>
                </a:solidFill>
                <a:latin typeface="Calibri"/>
              </a:rPr>
              <a:t>Bottom: residuals
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B3235"/>
                </a:solidFill>
                <a:latin typeface="Calibri"/>
              </a:rPr>
              <a:t>The error histogram is centred on zero and roughly symmetric — the model isn't systematically over- or under-predicting.
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2B3235"/>
                </a:solidFill>
                <a:latin typeface="Calibri"/>
              </a:rPr>
              <a:t> 
</a:t>
            </a:r>
          </a:p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D4A437"/>
                </a:solidFill>
                <a:latin typeface="Calibri"/>
              </a:rPr>
              <a:t>Average miss: ±586 kg per farm — about 2.6% of mean yield.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11  ·  EXPLAINABLE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What does the model say drives yield?</a:t>
            </a:r>
          </a:p>
        </p:txBody>
      </p:sp>
      <p:pic>
        <p:nvPicPr>
          <p:cNvPr id="5" name="Picture 4" descr="cell37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79" y="1554480"/>
            <a:ext cx="4937760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554480"/>
            <a:ext cx="4389120" cy="493776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79" y="1645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4A437"/>
                </a:solidFill>
                <a:latin typeface="Calibri"/>
              </a:rPr>
              <a:t>TOP DRIVERS OF YIELD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01168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1C"/>
                </a:solidFill>
                <a:latin typeface="Georgia"/>
              </a:rPr>
              <a:t>Size, then management, then climate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2807208"/>
            <a:ext cx="201168" cy="20116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267919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1C"/>
                </a:solidFill>
                <a:latin typeface="Calibri"/>
              </a:rPr>
              <a:t>Hectares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06324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Farm scale dominates total yield.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0" y="3767328"/>
            <a:ext cx="201168" cy="20116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36393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1C"/>
                </a:solidFill>
                <a:latin typeface="Calibri"/>
              </a:rPr>
              <a:t>Per-hectare input ratios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02336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How intensely fertiliser, seed and pesticide are applied.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4727448"/>
            <a:ext cx="201168" cy="20116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45994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1C"/>
                </a:solidFill>
                <a:latin typeface="Calibri"/>
              </a:rPr>
              <a:t>Variety &amp; Soil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98348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Choice of seed and growing medium.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0" y="5687568"/>
            <a:ext cx="201168" cy="20116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55595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1C"/>
                </a:solidFill>
                <a:latin typeface="Calibri"/>
              </a:rPr>
              <a:t>Climate aggregates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59436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3235"/>
                </a:solidFill>
                <a:latin typeface="Calibri"/>
              </a:rPr>
              <a:t>Mean rainfall, temperature range and humidity.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Paddy Yield Prediction · Final Project — Majwega Jackson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C666B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12  · 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Georgia"/>
              </a:rPr>
              <a:t>Use the Stacking ensemble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788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4A437"/>
                </a:solidFill>
                <a:latin typeface="Georgia"/>
              </a:rPr>
              <a:t>R² 0.9916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CD89C"/>
                </a:solidFill>
                <a:latin typeface="Calibri"/>
              </a:rPr>
              <a:t>HIGHEST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691640"/>
            <a:ext cx="2788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4A437"/>
                </a:solidFill>
                <a:latin typeface="Georgia"/>
              </a:rPr>
              <a:t>RMSE 826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3317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CD89C"/>
                </a:solidFill>
                <a:latin typeface="Calibri"/>
              </a:rPr>
              <a:t>LOWEST TYPICAL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2788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4A437"/>
                </a:solidFill>
                <a:latin typeface="Georgia"/>
              </a:rPr>
              <a:t>MAE 586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CD89C"/>
                </a:solidFill>
                <a:latin typeface="Calibri"/>
              </a:rPr>
              <a:t>LOWEST AVERAGE MISS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691640"/>
            <a:ext cx="2788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4A437"/>
                </a:solidFill>
                <a:latin typeface="Georgia"/>
              </a:rPr>
              <a:t>CV-R² 0.9924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3317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CD89C"/>
                </a:solidFill>
                <a:latin typeface="Calibri"/>
              </a:rPr>
              <a:t>STABLE ACROSS FOLDS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11155680" cy="36576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Why Stacking wins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822191"/>
            <a:ext cx="201168" cy="201168"/>
          </a:xfrm>
          <a:prstGeom prst="ellipse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Combines complementary strengths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59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CD89C"/>
                </a:solidFill>
                <a:latin typeface="Calibri"/>
              </a:rPr>
              <a:t>Random Forest, Gradient Boosting and Extra Trees each see different patterns; Stacking learns how to weight them.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480559"/>
            <a:ext cx="201168" cy="201168"/>
          </a:xfrm>
          <a:prstGeom prst="ellipse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Best on every 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7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CD89C"/>
                </a:solidFill>
                <a:latin typeface="Calibri"/>
              </a:rPr>
              <a:t>Top R², RMSE, MAE and cross-validated R² — not just one number, the whole scorecard.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138927"/>
            <a:ext cx="201168" cy="201168"/>
          </a:xfrm>
          <a:prstGeom prst="ellipse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04748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Stable, not over-fit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0095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CD89C"/>
                </a:solidFill>
                <a:latin typeface="Calibri"/>
              </a:rPr>
              <a:t>Cross-validation matches test performance, so the lift is real, not luck.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797295"/>
            <a:ext cx="201168" cy="201168"/>
          </a:xfrm>
          <a:prstGeom prst="ellipse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705855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Better than a neural net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98463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CD89C"/>
                </a:solidFill>
                <a:latin typeface="Calibri"/>
              </a:rPr>
              <a:t>MLP underperforms on this size of structured tabular data — trees handle non-linear interactions better.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64465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1B3A1C"/>
                </a:solidFill>
                <a:latin typeface="Calibri"/>
              </a:rPr>
              <a:t>If a simpler, faster model is needed, Random Forest or Gradient Boosting alone still give R² ≈ 0.99 with one click of training.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1B3A1C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4A437"/>
                </a:solidFill>
                <a:latin typeface="Calibri"/>
              </a:rPr>
              <a:t>13  ·  DEMO &amp;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B3A1C"/>
                </a:solidFill>
                <a:latin typeface="Georgia"/>
              </a:rPr>
              <a:t>From notebook to working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486400" cy="457200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73152" cy="4572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C5F2D"/>
                </a:solidFill>
                <a:latin typeface="Calibri"/>
              </a:rPr>
              <a:t>INTERACTIVE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1C"/>
                </a:solidFill>
                <a:latin typeface="Georgia"/>
              </a:rPr>
              <a:t>Built with Gradio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50292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B3235"/>
                </a:solidFill>
                <a:latin typeface="Calibri"/>
              </a:rPr>
              <a:t>A user picks a farm's variety, soil, hectares and the planned input rates, and the app returns a predicted yield in kilograms.</a:t>
            </a:r>
          </a:p>
          <a:p>
            <a:pPr algn="l">
              <a:lnSpc>
                <a:spcPct val="135000"/>
              </a:lnSpc>
            </a:pPr>
            <a:endParaRPr sz="1300" b="0" i="0">
              <a:solidFill>
                <a:srgbClr val="2B3235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B3235"/>
                </a:solidFill>
                <a:latin typeface="Calibri"/>
              </a:rPr>
              <a:t>The user can also switch between models on the fly — Stacking for accuracy, Random Forest for speed and explainability — and compare their predictions side by side.</a:t>
            </a:r>
          </a:p>
          <a:p>
            <a:pPr algn="l">
              <a:lnSpc>
                <a:spcPct val="135000"/>
              </a:lnSpc>
            </a:pPr>
            <a:endParaRPr sz="1300" b="0" i="0">
              <a:solidFill>
                <a:srgbClr val="2B3235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2B3235"/>
                </a:solidFill>
                <a:latin typeface="Calibri"/>
              </a:rPr>
              <a:t>Climate values for later growth windows default to the dataset means, so the tool works even at planting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1C"/>
                </a:solidFill>
                <a:latin typeface="Georgia"/>
              </a:rPr>
              <a:t>Key takeaways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606040"/>
            <a:ext cx="5303520" cy="77724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2606040"/>
            <a:ext cx="54864" cy="77724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67919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C5F2D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770632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B3235"/>
                </a:solidFill>
                <a:latin typeface="Calibri"/>
              </a:rPr>
              <a:t>Per-hectare ratios reveal a real ‘sweet spot’ for inputs.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520440"/>
            <a:ext cx="5303520" cy="77724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3520440"/>
            <a:ext cx="54864" cy="777240"/>
          </a:xfrm>
          <a:prstGeom prst="rect">
            <a:avLst/>
          </a:prstGeom>
          <a:solidFill>
            <a:srgbClr val="D4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59359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4A437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685032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B3235"/>
                </a:solidFill>
                <a:latin typeface="Calibri"/>
              </a:rPr>
              <a:t>Tree ensembles beat the neural network on structured farm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434840"/>
            <a:ext cx="5303520" cy="77724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4434840"/>
            <a:ext cx="54864" cy="777240"/>
          </a:xfrm>
          <a:prstGeom prst="rect">
            <a:avLst/>
          </a:prstGeom>
          <a:solidFill>
            <a:srgbClr val="6B9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50799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6B9E4D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599431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B3235"/>
                </a:solidFill>
                <a:latin typeface="Calibri"/>
              </a:rPr>
              <a:t>Stacking gives the best accuracy and stability — recommended.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349240"/>
            <a:ext cx="5303520" cy="77724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5349240"/>
            <a:ext cx="54864" cy="777240"/>
          </a:xfrm>
          <a:prstGeom prst="rect">
            <a:avLst/>
          </a:prstGeom>
          <a:solidFill>
            <a:srgbClr val="1B3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542239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1C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513831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B3235"/>
                </a:solidFill>
                <a:latin typeface="Calibri"/>
              </a:rPr>
              <a:t>The pipeline is ready to plug into a Gradio interface farmers can use.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solidFill>
            <a:srgbClr val="1B3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64465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ECD89C"/>
                </a:solidFill>
                <a:latin typeface="Calibri"/>
              </a:rPr>
              <a:t>Thank you  —  Majwega Jackson  ·  Final Project, April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CD89C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1351</Words>
  <Application>Microsoft Office PowerPoint</Application>
  <PresentationFormat>Widescreen</PresentationFormat>
  <Paragraphs>231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Georgia</vt:lpstr>
      <vt:lpstr>ZapfHumnst BT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2026-04-29T22:26:04Z</dcterms:modified>
  <cp:category/>
</cp:coreProperties>
</file>